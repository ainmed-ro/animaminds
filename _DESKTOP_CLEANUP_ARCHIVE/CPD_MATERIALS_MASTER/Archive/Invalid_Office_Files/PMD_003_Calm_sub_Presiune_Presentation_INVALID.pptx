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4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AnimaMinds | NICULAE ALINA-IONELA PFA | CPD Approved Provider — The CPD Group #790577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715A"/>
                </a:solidFill>
              </a:rPr>
              <a:t>AnimaMinds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D4A5C"/>
                </a:solidFill>
              </a:rPr>
              <a:t>Calm sub Presiune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0715A"/>
                </a:solidFill>
              </a:rPr>
              <a:t>Pauză. Respirație. Reconstrucție.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Summary: 3 sesiuni (2h + 2h + 2h) Online Live · 1 zi la sediu · 2 zile Experience Edition | Learning Hours: 7 | CPD Hours: 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Promisiunea programului / Programme Promise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Pauză. Respirație. Reconstrucție.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Who is this for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Manageri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Personal medical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Administrație publică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Echipe din companii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Lideri de echipă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Asistenți sociali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Funcționari publici cu contact direct cu cetățenii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Antreprenori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Formatori care lucrează cu grupuri dificile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Profesioniști în mediere sau terapie (prea de bază pentru ei)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Persoane care caută doar tehnici de suprimare a emoțiilor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Organizații care vor să evite conflictele în loc să le gestioneze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Persoane care au nevoie de terapie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consiliere sau intervenție legală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**Teams in high-contact roles:** 1-day on-site with scenario practice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**Healthcare:** 1-day on-site with patient/family and team conflict scenarios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**Education:** 2 × 3h online or 1-day on-site with classroom and parent scenarios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**Public administration:** 1-day on-site with citizen-service scenarios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Ciclul presiune-reacție: stimul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interpretare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emoție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reacție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Semne de escaladare în corp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voce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cuvinte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comportament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 la reacție la răspuns: diferența dintre a reacționa și a alege (10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 de reglare: respirație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ancorare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distanțare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etichetare emoțională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Exerciții practice: fiecare participant testează 3 tehnici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Alegerea unei tehnici „de bază" pentru situații profesionale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Poziții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interese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nevoi (PIN framework)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Nivele de intensitate a conflictului: disconfort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dispută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dezacord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ostilitate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Când este conflictul productiv și când devine distructiv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 verbale: redirecționare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reformulare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validarea parțială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limite clare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 non-verbale: ton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ritm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proximitate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pauză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„Cuvintele de sub presiune": formulări care dezamorsează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transformarea unei replici reactive într-una calmă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spui „stop" profesional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Când și cum să ieși dintr-o interacțiune escaladată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Când să ceri ajutor: manager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securitate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mediere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consiliere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Protecția personală și a instituției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Identificarea triggerelor personale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Alegerea a 2–3 tehnici de reglare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Definirea primului pas pentru următoarele 30 de zile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Resurse de continuare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Escalation Spotting uses shared screen and chat responses.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Regulation Lab uses guided audio/video with cameras off.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PIN Mapping uses shared digital whiteboard.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Role-plays use breakout rooms with observer roles.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Boundary Script can be done in writing or via chat.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**Professional** — manages the pressure situation.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**Other party** — presents the pressure or conflict.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**Observer** — notes signs of escalation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regulation techniques and de-escalation choices using the Calm Response Observation Guide.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conversation is conducted via a shared chat or breakout-room chat thread.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facilitator assigns the same scenario.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After 5 minutes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group debriefs: What worked in writing? What was missing compared to voice/body language? How did the professional stay calm in text?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Add a reflective evening session on personal triggers.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Include body-based regulation exercises in nature or movement.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Use longer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immersive scenarios with debrief circles.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Observation of regulation technique practice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Peer feedback on de-escalation rewrites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Scenario-based discussions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**Practical deliverable:** One rewritten high-pressure response + one boundary script.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**Reflection brief:** 150–250 words on a personal trigger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regulation technique chosen and how it will be applied.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100% of participants submit a rewritten response and boundary script.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90% of participants report increased confidence in handling pressure.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80% of participants can name at least 2 self-regulation techniques they will use within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guide with timings and talking points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Slide deck (customisable)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Scenario card library (30+ scenarios by sector)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Conflict mapping worksheet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De-escalation rewrite worksheet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Calm Response Rubric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Referral Decision Tree (see section 10.5)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PMD_002 ↔ PMD_003 Boundary Matrix (see section 10.6)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Pre- and post-program survey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Troubleshooting guide (see section 10.1)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Follow-up email sequence (see section 10.2)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Emotional safety protocol (see section 10.7)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Workbook (PDF)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Regulation technique cards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PIN framework cheat sheet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De-escalation Phrase Bank (see section 10.4)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Calm sub Presiune Response Card (see section 10.3)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Checklist: „Înainte să răspund sub presiune"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30-day calm plan template (see section 10.3)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Projector or large screen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Space for movement-based regulation exercises (on-site / Experience Edition)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Audio capability for guided breathing exercises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Backup plan: low-tech printed cards and scripts if technology fails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Respiră 3 secunde înainte să vorbești.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Pune mâinile pe masă sau picioarele pe podea.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 simt? (frica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frustrare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vinovăție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suprasolicitare)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 nivel de intensitate? (1 = disconfort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 = ostilitate)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„Înțeleg că situația este frustrantă." (validare parțială)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„Haideți să vedem ce putem face în acest moment." (orientare spre acțiune)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„Acest ton nu ne ajută. Oprim conversația și o continuăm când suntem amândoi calmi." (limită)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 am învățat?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Cui trebuie să raportez?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 fac la următoarea întâlnire?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„Văd că sunteți îngrijorat/ă. Să clarificăm împreună ce știm și ce nu știm."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„Acesta este un spațiu sigur. Haideți să găsim o soluție care să respecte și pe copil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și pe dumneavoastră."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„Nu pot rezolva asta acum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dar pot să vă spun exact care este pasul următor."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„Dacă vorbim cu calm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putem auzi mai bine ce are nevoie copilul."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„Înțeleg că așteptați un răspuns. Să vedem împreună ce informații avem acum."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„Vă ascult. Voi face tot ce pot ca să vă transmit informațiile clar."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„Acest lucru depășește ceea ce pot eu să fac aici. Voi chema colegul meu senior."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„Siguranța pacientului este prioritatea noastră comună. De aceea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urmăm acest protocol."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„Înțeleg că această situație vă afectează. Vă explic pașii și de ce este nevoie de ei."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„Nu pot face o excepție de la procedură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dar vă pot arăta ce opțiuni legale aveți."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„Dacă vorbim unul peste altul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nu putem găsi o soluție. Haideți să stabilim ordinea."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„Vă voi redirecționa către colegul care se ocupă de acest tip de solicitare."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„Înțeleg impactul asupra proiectului. Haideți să vedem ce putem recupera acum."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„Nu este util să găsim vinovați. Să găsim soluția."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„Acest ton nu ne ajută. Oprim 5 minute și revenim cu calm."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„Voi reveni cu un plan concret până mâine la ora 12."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YES → Call security / emergency services. Do not continue the conversation alone.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 → Go to Step 2.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YES → Continue with de-escalation skills. Monitor closely.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 → Pause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offer a break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suggest a later time. Go to Step 3.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YES → Refer to HR or management.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 → Go to Step 4.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YES → Refer to internal or external mediation.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 → Go to Step 5.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YES → Refer to counselling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EAP or specialist services.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 → Continue with program skills; document the conversation.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YES → Consult your manager or HR. Do not decide alone.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situation is calm enough for dialogue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and listening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it belongs to PMD_002.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situation is already heated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pressured or conflictual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it belongs to PMD_003.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Debrief after emotionally intense sessions.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Avoid taking responsibility for resolving participants' conflicts.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Take breaks between consecutive deliveries.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conflict between students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tense parent-teacher meetings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classroom disruption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colleague disagreement under exam pressure.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teacher must model calm under pressure; scenarios should respect child safeguarding.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distressed patients or family members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tense handovers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disagreement over treatment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blame under time pressure.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patient safety and dignity are paramount; de-escalation never replaces clinical judgement.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angry citizens at counters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complaints about delays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meetings with hostile audiences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inter-departmental tension.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**Compliance note:** de-escalation must remain neutral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respectful and within institutional authority.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high-pressure client calls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conflict between departments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blame in project failures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aggressive negotiation.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calm under pressure protects relationships and commercial outcomes.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distressed beneficiaries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tense partner negotiations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activist burnout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donor pressure.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values-based boundaries protect staff and mission.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Calm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detached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Firm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aggressive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Human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robotic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Practical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philosophical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Professional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clinical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Purpose is 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Target audience is specific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Learning outcomes are measurable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Activities are practical and role-relevant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Assessment is achievable and meaningful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Sector adaptations are documented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Ethical and safety guardrails are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Resources are listed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Tone aligns with AnimaMinds messaging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Boundary with Conversații care Contează is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Emotional safety protocol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Scope statement (not therapy/counselling/mediation)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CPD annex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Review findings addressed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Demonstrated experience in training adults in stress management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conflict handling or resilience.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Strong facilitation skills for emotionally loaded topics.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Ability to maintain boundaries and keep conversations within the program scope.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Familiarity with self-regulation techniques and basic conflict frameworks.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Emotional maturity and capacity to hold space for discomfort without rescuing or advising.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Background in education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healthcare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administration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business or NGOs.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Experience delivering both online and in-person experiential learning.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Completion of the AnimaMinds Calm sub Presiune facilitator induction.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Stress reactivity questionnaire (5 items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Likert 1–5)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Self-assessment of current conflict-management habits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observation checklist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Peer feedback on de-escalation rewrites and boundary scripts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Module-end quick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Repeat stress reactivity questionnaire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Rewritten response + boundary script submission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Reflection brief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Satisfaction survey (5 items)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Short online survey: pressure situations handled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techniques used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support sought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Optional second reflection brief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Benefits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23042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Recunoaște semnele de escaladare în sine și în ceilalți.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Aplică tehnici de autoreglare emoțională în timp real.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De-escalează interacțiuni tensionate fără să evite problema.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Stabilește limite clar și respectos sub presiune.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Analizează conflictul prin poziții, interese, nevoi (PIN).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Identifică când o situație necesită referire către HR, management sau suport profesional.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(1/5)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**Recognise** the physiological and behavioural signs of escalation in themselves and others.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**Apply** at least 3 emotional self-regulation techniques during a tense interaction and describe the effect in writing.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**Analyse** a conflict situation using a structured framework (positions, interests, needs).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**Choose** an appropriate de-escalation strategy based on the level of intensity.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**Respond** with a calm, clear, professional message under pressure.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(2/5)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**Set and maintain** boundaries when confronted with aggression, blame or unreasonable demands.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7. **Create** a personal calm-under-pressure plan for the next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8. **Identify** when a situation requires referral to HR, mediation, management or professional support.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9. Pause the activity calmly.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10. Acknowledge the emotion: *„Văd că acest scenariu atinge ceva personal. Nu trebuie să continuăm."*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(3/5)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11. Offer options: observe, take a break, or speak privately.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12. Do not offer counselling, diagnosis or advice beyond the program scope.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13. Refer to appropriate support if needed (HR, EAP, therapist, manager).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14. Return the group to the skills focus.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15. Thank them for trusting the group.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(4/5)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16. State clearly: *„Acest program nu oferă terapie, consiliere sau mediere. Vă recomand să discutați cu un specialist."*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17. Offer a private follow-up to identify referral options.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18. Document the referral offer.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19. **Content review cycle:** Program content is reviewed every 6 months or after significant research updates on stress, conflict or de-escalation.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20. **Facilitator debrief:** After each delivery, facilitators complete a 15-minute debrief form noting what worked, what did not and any emotional intensity.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(5/5)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536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21. **Participant feedback analysis:** Feedback scores and comments are reviewed after every 3 deliveries.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22. **Update log:** All changes to the PMD are logged with date, reason and approver.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23. **Sector validation:** Sector-specific scenarios are reviewed by at least one practitioner every 12 months.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24. **Safety audit:** Once per year, scenarios and role-play boundaries are reviewed to ensure they do not trigger unresolved trauma or require therapeutic intervention.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Delivery formats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Online Live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La sediul instituției / organizației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Experience Edition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4A5C"/>
                </a:solidFill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715A"/>
                </a:solidFill>
              </a:rPr>
              <a:t>For custom offers: contact@animaminds.ro | www.animaminds.ro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2026-07-12T19:57:00Z</dcterms:created>
  <dcterms:modified xsi:type="dcterms:W3CDTF">2026-07-12T19:57:00Z</dcterms:modified>
</cp:coreProperties>
</file>
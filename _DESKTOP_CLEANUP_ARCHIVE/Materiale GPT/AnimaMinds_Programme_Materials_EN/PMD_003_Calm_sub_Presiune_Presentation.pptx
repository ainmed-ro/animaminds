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Calm sub Presiune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Pauză. Respirație. Reconstrucție.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Pauză. Respirație. Reconstrucție.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Administrație publică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Asistenți sociali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cu contact direct cu cetățenii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care lucrează cu grupuri dificile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 în mediere sau terapie (prea de bază pentru ei)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tehnici de suprimare a emoțiilor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evite conflictele în loc să le gestioneze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au nevoie de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intervenție legală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in high-contact roles:** 1-day on-site with scenario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**Healthcare:** 1-day on-site with patient/family and team conflict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**Education:** 2 × 3h online or 1-day on-site with classroom and parent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**Public administration:** 1-day on-site with citizen-service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Ciclul presiune-reacție: stimul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interpretare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reacție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Semne de escaladare în corp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cuvinte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comportament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reacție la răspuns: diferența dintre a reacționa și a alege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de reglare: respirație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ancorare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distanțare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etichetare emoțională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Exerciții practice: fiecare participant testează 3 tehnici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Alegerea unei tehnici „de bază" pentru situații profesionale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Poziții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interese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nevoi (PIN framework)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Nivele de intensitate a conflictului: disconfort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dispută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dezacord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ostilitate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este conflictul productiv și când devine distructiv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verbale: redirecționare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reformulare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validarea parțială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limite clare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non-verbale: ton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ritm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proximitate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pauză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„Cuvintele de sub presiune": formulări care dezamorsează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transformarea unei replici reactive într-una calmă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„stop" profesional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și cum să ieși dintr-o interacțiune escaladată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să ceri ajutor: manager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securitate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mediere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Protecția personală și a instituției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triggerelor personale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Alegerea a 2–3 tehnici de reglare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Definirea primului pas pentru următoarele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Escalation Spotting uses shared screen and chat responses.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Lab uses guided audio/video with cameras off.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PIN Mapping uses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Role-plays use breakout rooms with observer roles.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Boundary Script can be done in writing or via chat.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**Professional** — manages the pressure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**Other party** — presents the pressure or conflict.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**Observer** — notes signs of escalation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techniques and de-escalation choices using the Calm Response Observation Guide.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conversation is conducted via a shared chat or breakout-room chat thread.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facilitator assigns the same scenario.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After 5 minutes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group debriefs: What worked in writing? What was missing compared to voice/body language? How did the professional stay calm in text?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 reflective evening session on personal triggers.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body-based regulation exercises in nature or movement.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immersive scenarios with debrief circles.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regulation technique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de-escalation rewrites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Scenario-based discussions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rewritten high-pressure response + one boundary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a personal trigger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regulation technique chosen and how it will be applied.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rewritten response and boundary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handling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can name at least 2 self-regulation techniques they will use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 library (30+ scenarios by sector)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mapping worksheet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De-escalation rewrite worksheet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 Response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Referral Decision Tree (see section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 ↔ PMD_003 Boundary Matrix (see section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safety protocol (see section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technique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PIN framework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De-escalation Phrase Bank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 sub Presiune Response Card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să răspund sub presiune"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calm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Space for movement-based regulation exercises (on-site / Experience Edition)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Audio capability for guided breathing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low-tech printed cards and scripts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Respiră 3 secunde înainte să vorbești.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Pune mâinile pe masă sau picioarele pe podea.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simt? (frica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frustrare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vinovăție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suprasolicitare)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nivel de intensitate? (1 = disconfort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 = ostilitate)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situația este frustrantă." (validare parțială)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„Haideți să vedem ce putem face în acest moment." (orientare spre acțiune)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ton nu ne ajută. Oprim conversația și o continuăm când suntem amândoi calmi." (limită)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am învățat?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Cui trebuie să raportez?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fac la următoarea întâlnire?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„Văd că sunteți îngrijorat/ă. Să clarificăm împreună ce știm și ce nu știm."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„Acesta este un spațiu sigur. Haideți să găsim o soluție care să respecte și pe copil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și pe dumneavoastră."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pot rezolva asta acum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dar pot să vă spun exact care este pasul următor."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„Dacă vorbim cu calm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putem auzi mai bine ce are nevoie copilul."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așteptați un răspuns. Să vedem împreună ce informații avem acum."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 ascult. Voi face tot ce pot ca să vă transmit informațiile clar."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lucru depășește ceea ce pot eu să fac aici. Voi chema colegul meu senior."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„Siguranța pacientului este prioritatea noastră comună. De aceea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urmăm acest protocol."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această situație vă afectează. Vă explic pașii și de ce este nevoie de ei."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pot face o excepție de la procedură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dar vă pot arăta ce opțiuni legale aveți."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„Dacă vorbim unul peste altul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nu putem găsi o soluție. Haideți să stabilim ordinea."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 voi redirecționa către colegul care se ocupă de acest tip de solicitare."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impactul asupra proiectului. Haideți să vedem ce putem recupera acum."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este util să găsim vinovați. Să găsim soluția."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ton nu ne ajută. Oprim 5 minute și revenim cu calm."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„Voi reveni cu un plan concret până mâine la ora 12."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Call security / emergency services. Do not continue the conversation alone.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Continue with de-escalation skills. Monitor closely.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Pause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offer a break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suggest a later time. Go to Step 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HR or management.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internal or external mediation.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5.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counselling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EAP or specialist services.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Continue with program skills; document the conversation.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Consult your manager or HR. Do not decide alone.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situation is calm enough for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and listening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 belongs to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situation is already heated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pressured or conflictual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 belongs to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Debrief after emotionally intense sessions.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Avoid taking responsibility for resolving participants' conflicts.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Take breaks between consecutive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conflict between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parent-teacher meetings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classroom disruption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colleague disagreement under exam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teacher must model calm under pressure; scenarios should respect child safeguarding.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distressed patients or family members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handovers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disagreement over treatment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blame under time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patient safety and dignity are paramount; de-escalation never replaces clinical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angry citizens at counters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complaints about delays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meetings with hostile audiences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inter-departmental tension.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de-escalation must remain neutral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respectful and within institutional authority.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high-pressure client calls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between departments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blame in project failures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aggressive negotiation.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calm under pressure protects relationships and commercial outcomes.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distressed beneficiaries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partner negotiations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activist burnout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donor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values-based boundaries protect staff and mission.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detached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Firm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aggressive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robotic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Professional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clinical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Boundary with Conversații care Contează is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Emotional safety protocol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Scope statement (not therapy/counselling/mediation)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stress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handling or resilience.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emotionally loaded topics.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maintain boundaries and keep conversations within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self-regulation techniques and basic conflict frameworks.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maturity and capacity to hold space for discomfort without rescuing or advising.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Calm sub Presiune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Stress reactivity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conflict-management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de-escalation rewrites and boundary scripts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stress reactivity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Rewritten response + boundary script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pressure situations handled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techniques used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support sought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Recunoaște semnele de escaladare în sine și în ceilalți.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Aplică tehnici de autoreglare emoțională în timp real.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De-escalează interacțiuni tensionate fără să evite problema.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Stabilește limite clar și respectos sub presiune.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Analizează conflictul prin poziții, interese, nevoi (PIN).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Identifică când o situație necesită referire către HR, management sau suport profesional.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**Recognise** the physiological and behavioural signs of escalation in themselves and others.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emotional self-regulation techniques during a tense interaction and describe the effect in writing.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**Analyse** a conflict situation using a structured framework (positions, interests, needs).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**Choose** an appropriate de-escalation strategy based on the level of intensity.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**Respond** with a calm, clear, professional message under pressure.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**Set and maintain** boundaries when confronted with aggression, blame or unreasonable demands.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personal calm-under-pressure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**Identify** when a situation requires referral to HR, mediation, management or professional support.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Pause the activity calmly.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Acknowledge the emotion: *„Văd că acest scenariu atinge ceva personal. Nu trebuie să continuăm."*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Offer options: observe, take a break, or speak privately.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Do not offer counselling, diagnosis or advice beyond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Refer to appropriate support if needed (HR, EAP, therapist, manager).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Return the group to the skills focus.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Thank them for trusting the group.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State clearly: *„Acest program nu oferă terapie, consiliere sau mediere. Vă recomand să discutați cu un specialist."*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Offer a private follow-up to identify referral options.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Document the referral offer.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**Content review cycle:** Program content is reviewed every 6 months or after significant research updates on stress, conflict or de-escalation.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**Facilitator debrief:** After each delivery, facilitators complete a 15-minute debrief form noting what worked, what did not and any emotional intensity.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(5/5)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**Participant feedback analysis:** Feedback scores and comments are reviewed after every 3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**Sector validation:** Sector-specific scenarios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**Safety audit:** Once per year, scenarios and role-play boundaries are reviewed to ensure they do not trigger unresolved trauma or require therapeutic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2026-07-12T18:40:16Z</dcterms:created>
  <dcterms:modified xsi:type="dcterms:W3CDTF">2026-07-12T18:40:16Z</dcterms:modified>
</cp:coreProperties>
</file>